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B3EEBA-B0C3-4E30-9313-08E67A4C6C71}">
  <a:tblStyle styleId="{97B3EEBA-B0C3-4E30-9313-08E67A4C6C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5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4.xml"/><Relationship Id="rId21" Type="http://schemas.openxmlformats.org/officeDocument/2006/relationships/font" Target="fonts/DM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8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DM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fb4698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9fb46984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8969550" y="-2218425"/>
            <a:ext cx="5715000" cy="5715000"/>
          </a:xfrm>
          <a:prstGeom prst="roundRect">
            <a:avLst>
              <a:gd fmla="val 16667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-952500" y="4000500"/>
            <a:ext cx="3810000" cy="3810000"/>
          </a:xfrm>
          <a:prstGeom prst="roundRect">
            <a:avLst>
              <a:gd fmla="val 16667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595437" y="1495573"/>
            <a:ext cx="900112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Fastener Layout Optimization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3632745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Comparing Learning-Based (PINN) and Geometric (MMC) Frameworks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4867126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Supervisor Meeting — 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8790050" y="-2012125"/>
            <a:ext cx="5715000" cy="5715000"/>
          </a:xfrm>
          <a:prstGeom prst="roundRect">
            <a:avLst>
              <a:gd fmla="val 16667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 title="L_Bracket_Setup_Visu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227300"/>
            <a:ext cx="5524500" cy="53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81000" y="329654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&amp; Dual-Approach Summary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381000" y="996404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81000" y="1310729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Question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381000" y="1844129"/>
            <a:ext cx="5524500" cy="120015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23875" y="1987004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"How do learning-based (PINN) and geometric (MMC) optimization frameworks compare for discrete fastener placement?"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381000" y="1844129"/>
            <a:ext cx="38100" cy="1200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81000" y="3282404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Two Approaches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81000" y="6082754"/>
            <a:ext cx="5524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Benchmark Geometries: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L-bracket, Tapered plate, Ribbed channel.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52450" y="376817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19125" y="3768179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Approach A: Hybrid PINN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52450" y="491117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19125" y="4911179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Approach B: MMC (Geometric)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42950" y="407297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57250" y="407297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Gradient-based optimization → Neural surrogate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42950" y="449207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449207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Amortized: Fast inference after one-time training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42950" y="521597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57250" y="521597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Explicit geometric optimization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42950" y="563507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57250" y="563507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Direct: No training, but slower per iteration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343400"/>
            <a:ext cx="55245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Multi-Geometry PINN Performance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381000" y="10477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381000" y="1943100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&amp; Training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81000" y="3857625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Speed Performance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286500" y="1899344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vs. Ground Truth</a:t>
            </a:r>
            <a:endParaRPr/>
          </a:p>
        </p:txBody>
      </p:sp>
      <p:graphicFrame>
        <p:nvGraphicFramePr>
          <p:cNvPr id="126" name="Google Shape;126;p15"/>
          <p:cNvGraphicFramePr/>
          <p:nvPr/>
        </p:nvGraphicFramePr>
        <p:xfrm>
          <a:off x="6286500" y="2385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{97B3EEBA-B0C3-4E30-9313-08E67A4C6C71}</a:tableStyleId>
              </a:tblPr>
              <a:tblGrid>
                <a:gridCol w="2813150"/>
                <a:gridCol w="1247325"/>
                <a:gridCol w="1464025"/>
              </a:tblGrid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Geometry /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 (J)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MAPE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L-bracket / Horizontal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L-bracket / Vertical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Tapered plate / Tip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1.55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6.75%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Ribbed channel / 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1.46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4.54%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Ribbed channel / Shear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335%*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5"/>
          <p:cNvSpPr txBox="1"/>
          <p:nvPr/>
        </p:nvSpPr>
        <p:spPr>
          <a:xfrm>
            <a:off x="6286500" y="5592960"/>
            <a:ext cx="552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*Relative error inflated due to small ground truth (&lt;1 J). Absolute error is acceptable.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81000" y="2428875"/>
            <a:ext cx="552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 Samples: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1020 (Across 3 geometries)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81000" y="2847975"/>
            <a:ext cx="552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Architecture: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2×96 Tanh MLP (14 inputs)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81000" y="3267075"/>
            <a:ext cx="552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1500 epochs, ~2 hours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4533900"/>
            <a:ext cx="5143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≥ 10³×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5162550"/>
            <a:ext cx="5143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Faster than Diff-FEA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5505450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(0.009 ms vs 10.4 ms)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486025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905125"/>
            <a:ext cx="2857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3324225"/>
            <a:ext cx="2857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6286500" y="3443287"/>
            <a:ext cx="2813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9099649" y="3443287"/>
            <a:ext cx="1247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0346977" y="3443287"/>
            <a:ext cx="14640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286500" y="3955702"/>
            <a:ext cx="2813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9099649" y="3955702"/>
            <a:ext cx="1247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0346977" y="3955702"/>
            <a:ext cx="14640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286500" y="4468117"/>
            <a:ext cx="2813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9099649" y="4468117"/>
            <a:ext cx="1247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0346977" y="4468117"/>
            <a:ext cx="14640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286500" y="4980533"/>
            <a:ext cx="28131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9099649" y="4980533"/>
            <a:ext cx="1247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10346977" y="4980533"/>
            <a:ext cx="14640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590925"/>
            <a:ext cx="5524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467225"/>
            <a:ext cx="5524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Moving Morphable Components (MMC) Results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81000" y="10477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381000" y="1466850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Status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286500" y="1899344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Summary</a:t>
            </a:r>
            <a:endParaRPr/>
          </a:p>
        </p:txBody>
      </p:sp>
      <p:graphicFrame>
        <p:nvGraphicFramePr>
          <p:cNvPr id="159" name="Google Shape;159;p16"/>
          <p:cNvGraphicFramePr/>
          <p:nvPr/>
        </p:nvGraphicFramePr>
        <p:xfrm>
          <a:off x="6286500" y="2385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{97B3EEBA-B0C3-4E30-9313-08E67A4C6C71}</a:tableStyleId>
              </a:tblPr>
              <a:tblGrid>
                <a:gridCol w="1722100"/>
                <a:gridCol w="1484625"/>
                <a:gridCol w="2317750"/>
              </a:tblGrid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Geometry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Load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 Compliance (Norm.)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L-bracket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Horizontal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0.426 (Baseline)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L-bracket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Tapered plate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Combined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11,667.14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Ribbed channel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Upward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11D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-732,240.34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Ribbed channel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11D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-1,988,492.19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16"/>
          <p:cNvSpPr txBox="1"/>
          <p:nvPr/>
        </p:nvSpPr>
        <p:spPr>
          <a:xfrm>
            <a:off x="6286500" y="5592960"/>
            <a:ext cx="552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Negative values indicate numerical artifacts requiring normalization fix.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552450" y="19526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19125" y="19526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Completion: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 three geometries operational (L-bracket, Tapered, Ribbed).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52450" y="2676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19125" y="26765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Performance: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~30 iterations/run, 118 ms/iteration.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552450" y="30956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19125" y="30956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 Time: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~3.5 seconds per optimization.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61975" y="3733800"/>
            <a:ext cx="409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Note: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286500" y="3443287"/>
            <a:ext cx="1624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7910661" y="3443287"/>
            <a:ext cx="1272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9183141" y="3443287"/>
            <a:ext cx="2627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286500" y="3955702"/>
            <a:ext cx="1624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7910661" y="3955702"/>
            <a:ext cx="1272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9183141" y="3955702"/>
            <a:ext cx="2627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286500" y="4468117"/>
            <a:ext cx="1624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910661" y="4468117"/>
            <a:ext cx="1272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183141" y="4468117"/>
            <a:ext cx="2627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286500" y="4980533"/>
            <a:ext cx="1624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910661" y="4980533"/>
            <a:ext cx="1272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9183141" y="4980533"/>
            <a:ext cx="2627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6" title="mmc_compliance_lbrack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" y="4467225"/>
            <a:ext cx="285748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title="mmc_lbracket_complianc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8500" y="4467225"/>
            <a:ext cx="2857500" cy="190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/>
        </p:nvSpPr>
        <p:spPr>
          <a:xfrm>
            <a:off x="381000" y="381000"/>
            <a:ext cx="118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Moving Morphable Components (MMC) Results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381000" y="1047750"/>
            <a:ext cx="114300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7" title="mmc_compliance_vertic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424" y="1262820"/>
            <a:ext cx="3955575" cy="2637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title="mmc_ribbed_channel_lateral_shear_compli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99" y="1256750"/>
            <a:ext cx="3955575" cy="263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title="mmc_ribbed_channel_upward_tip_complian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0424" y="3899846"/>
            <a:ext cx="3955575" cy="263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title="mmc_tapered_plate_complianc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999" y="3899846"/>
            <a:ext cx="3955575" cy="26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8" title="unified_compliance_comparison.png"/>
          <p:cNvPicPr preferRelativeResize="0"/>
          <p:nvPr/>
        </p:nvPicPr>
        <p:blipFill rotWithShape="1">
          <a:blip r:embed="rId3">
            <a:alphaModFix/>
          </a:blip>
          <a:srcRect b="0" l="150" r="-150" t="0"/>
          <a:stretch/>
        </p:blipFill>
        <p:spPr>
          <a:xfrm>
            <a:off x="6010275" y="1768825"/>
            <a:ext cx="6095976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 Comparison &amp; Trade-Offs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381000" y="10477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18"/>
          <p:cNvGraphicFramePr/>
          <p:nvPr/>
        </p:nvGraphicFramePr>
        <p:xfrm>
          <a:off x="381000" y="16040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{97B3EEBA-B0C3-4E30-9313-08E67A4C6C71}</a:tableStyleId>
              </a:tblPr>
              <a:tblGrid>
                <a:gridCol w="1166525"/>
                <a:gridCol w="1254475"/>
                <a:gridCol w="1111450"/>
                <a:gridCol w="1992075"/>
              </a:tblGrid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Time/Iter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Diff-FEA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10.4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0.009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 hrs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Cross-Geometry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MMC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118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Re-optimize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18"/>
          <p:cNvSpPr txBox="1"/>
          <p:nvPr/>
        </p:nvSpPr>
        <p:spPr>
          <a:xfrm>
            <a:off x="381000" y="3977580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Trade-Offs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286500" y="5674072"/>
            <a:ext cx="5524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Comparative Runtimes (Log Scale)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552450" y="44633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19125" y="446335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PINN ≫ Diff-FEA ≫ MMC.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52450" y="48824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19125" y="488245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Training Cost: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PINN requires upfront time; MMC is zero-shot.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552450" y="56063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19125" y="560635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Flexibility: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PINN generalizes; MMC requires new optimization per load.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381000" y="2662237"/>
            <a:ext cx="1166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1547514" y="2662237"/>
            <a:ext cx="1254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2801987" y="2662237"/>
            <a:ext cx="1111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913435" y="2662237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381000" y="3174652"/>
            <a:ext cx="1166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1547514" y="3174652"/>
            <a:ext cx="12544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2801987" y="3174652"/>
            <a:ext cx="1111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3913435" y="3174652"/>
            <a:ext cx="1992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985069"/>
            <a:ext cx="3619500" cy="3868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1985069"/>
            <a:ext cx="3619500" cy="3868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85069"/>
            <a:ext cx="3619500" cy="386893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Remaining Work &amp; Next Steps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381000" y="104775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240631" y="3004244"/>
            <a:ext cx="19002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Tasks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5260895" y="3004244"/>
            <a:ext cx="167020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Writing Tasks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966120" y="3004244"/>
            <a:ext cx="207025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Decisions Needed</a:t>
            </a:r>
            <a:endParaRPr/>
          </a:p>
        </p:txBody>
      </p:sp>
      <p:pic>
        <p:nvPicPr>
          <p:cNvPr descr="image.png" id="228" name="Google Shape;22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4062" y="236606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828675" y="3442394"/>
            <a:ext cx="2724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Ansys Validation (&lt;20% error)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28675" y="3830984"/>
            <a:ext cx="2724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MMC Normalization (to Joules)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828675" y="4219575"/>
            <a:ext cx="2724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Dataset Visualization</a:t>
            </a:r>
            <a:endParaRPr/>
          </a:p>
        </p:txBody>
      </p:sp>
      <p:pic>
        <p:nvPicPr>
          <p:cNvPr descr="image.png" id="232" name="Google Shape;23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0" y="23660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8710612" y="344144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767762" y="3442394"/>
            <a:ext cx="2705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Freeze scope at 2D/2.5D?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710612" y="38300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767762" y="3830984"/>
            <a:ext cx="2705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Add 3D PINN-only extension?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710612" y="421862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8767762" y="4219575"/>
            <a:ext cx="2705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Proceed with Validation + Writing?</a:t>
            </a:r>
            <a:endParaRPr/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3490019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3878609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675" y="426720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4743462" y="3442394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- Draft all 8 chapters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4743449" y="3830975"/>
            <a:ext cx="28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- Incorporate supervisor feedback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4743462" y="4219575"/>
            <a:ext cx="2705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- Final formatting and   proofreading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9873813" y="2366075"/>
            <a:ext cx="254875" cy="3809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/>
          <p:nvPr/>
        </p:nvSpPr>
        <p:spPr>
          <a:xfrm>
            <a:off x="8985900" y="-2102200"/>
            <a:ext cx="5715000" cy="5715000"/>
          </a:xfrm>
          <a:prstGeom prst="roundRect">
            <a:avLst>
              <a:gd fmla="val 16667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-952500" y="4000500"/>
            <a:ext cx="3810000" cy="3810000"/>
          </a:xfrm>
          <a:prstGeom prst="roundRect">
            <a:avLst>
              <a:gd fmla="val 16667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3385661" y="2422177"/>
            <a:ext cx="542067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3514725" y="3841402"/>
            <a:ext cx="5162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Thank you for your guidance.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